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7" r:id="rId12"/>
  </p:sldIdLst>
  <p:sldSz cx="9144000" cy="6858000" type="screen4x3"/>
  <p:notesSz cx="6877050" cy="965676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B7C9E-7B7B-4C83-BB9C-6837A98D603D}" type="datetimeFigureOut">
              <a:rPr lang="pt-BR" smtClean="0"/>
              <a:pPr/>
              <a:t>31/10/2023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1E511-970C-4316-95AE-B4FFFDF9EEA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B7C9E-7B7B-4C83-BB9C-6837A98D603D}" type="datetimeFigureOut">
              <a:rPr lang="pt-BR" smtClean="0"/>
              <a:pPr/>
              <a:t>31/10/2023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1E511-970C-4316-95AE-B4FFFDF9EEA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B7C9E-7B7B-4C83-BB9C-6837A98D603D}" type="datetimeFigureOut">
              <a:rPr lang="pt-BR" smtClean="0"/>
              <a:pPr/>
              <a:t>31/10/2023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1E511-970C-4316-95AE-B4FFFDF9EEA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B7C9E-7B7B-4C83-BB9C-6837A98D603D}" type="datetimeFigureOut">
              <a:rPr lang="pt-BR" smtClean="0"/>
              <a:pPr/>
              <a:t>31/10/2023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1E511-970C-4316-95AE-B4FFFDF9EEA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B7C9E-7B7B-4C83-BB9C-6837A98D603D}" type="datetimeFigureOut">
              <a:rPr lang="pt-BR" smtClean="0"/>
              <a:pPr/>
              <a:t>31/10/2023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1E511-970C-4316-95AE-B4FFFDF9EEA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B7C9E-7B7B-4C83-BB9C-6837A98D603D}" type="datetimeFigureOut">
              <a:rPr lang="pt-BR" smtClean="0"/>
              <a:pPr/>
              <a:t>31/10/2023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1E511-970C-4316-95AE-B4FFFDF9EEA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B7C9E-7B7B-4C83-BB9C-6837A98D603D}" type="datetimeFigureOut">
              <a:rPr lang="pt-BR" smtClean="0"/>
              <a:pPr/>
              <a:t>31/10/2023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1E511-970C-4316-95AE-B4FFFDF9EEA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B7C9E-7B7B-4C83-BB9C-6837A98D603D}" type="datetimeFigureOut">
              <a:rPr lang="pt-BR" smtClean="0"/>
              <a:pPr/>
              <a:t>31/10/2023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1E511-970C-4316-95AE-B4FFFDF9EEA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B7C9E-7B7B-4C83-BB9C-6837A98D603D}" type="datetimeFigureOut">
              <a:rPr lang="pt-BR" smtClean="0"/>
              <a:pPr/>
              <a:t>31/10/2023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1E511-970C-4316-95AE-B4FFFDF9EEA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B7C9E-7B7B-4C83-BB9C-6837A98D603D}" type="datetimeFigureOut">
              <a:rPr lang="pt-BR" smtClean="0"/>
              <a:pPr/>
              <a:t>31/10/2023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1E511-970C-4316-95AE-B4FFFDF9EEA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B7C9E-7B7B-4C83-BB9C-6837A98D603D}" type="datetimeFigureOut">
              <a:rPr lang="pt-BR" smtClean="0"/>
              <a:pPr/>
              <a:t>31/10/2023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1E511-970C-4316-95AE-B4FFFDF9EEA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B7C9E-7B7B-4C83-BB9C-6837A98D603D}" type="datetimeFigureOut">
              <a:rPr lang="pt-BR" smtClean="0"/>
              <a:pPr/>
              <a:t>31/10/2023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1E511-970C-4316-95AE-B4FFFDF9EEA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27584" y="2420888"/>
            <a:ext cx="7772400" cy="1470025"/>
          </a:xfrm>
        </p:spPr>
        <p:txBody>
          <a:bodyPr/>
          <a:lstStyle/>
          <a:p>
            <a:r>
              <a:rPr lang="pt-BR" dirty="0">
                <a:latin typeface="Bookman Old Style" pitchFamily="18" charset="0"/>
              </a:rPr>
              <a:t>BALANCEAMENTO DE TRÊS PONTOS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536" y="260648"/>
            <a:ext cx="8568952" cy="5450160"/>
          </a:xfrm>
        </p:spPr>
        <p:txBody>
          <a:bodyPr>
            <a:normAutofit/>
          </a:bodyPr>
          <a:lstStyle/>
          <a:p>
            <a:pPr algn="l">
              <a:buFont typeface="Wingdings" pitchFamily="2" charset="2"/>
              <a:buChar char="Ø"/>
            </a:pPr>
            <a:r>
              <a:rPr lang="pt-BR" sz="2000" dirty="0">
                <a:solidFill>
                  <a:schemeClr val="tx1"/>
                </a:solidFill>
                <a:latin typeface="Bookman Old Style" pitchFamily="18" charset="0"/>
              </a:rPr>
              <a:t> PRIMEIRO PASSO</a:t>
            </a:r>
          </a:p>
          <a:p>
            <a:pPr algn="l"/>
            <a:endParaRPr lang="pt-BR" sz="1800" dirty="0">
              <a:solidFill>
                <a:schemeClr val="tx1"/>
              </a:solidFill>
              <a:latin typeface="Bookman Old Style" pitchFamily="18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pt-BR" sz="1800" dirty="0">
                <a:solidFill>
                  <a:schemeClr val="tx1"/>
                </a:solidFill>
                <a:latin typeface="Bookman Old Style" pitchFamily="18" charset="0"/>
              </a:rPr>
              <a:t> </a:t>
            </a:r>
            <a:r>
              <a:rPr lang="pt-BR" sz="1600" dirty="0">
                <a:solidFill>
                  <a:schemeClr val="tx1"/>
                </a:solidFill>
                <a:latin typeface="Bookman Old Style" pitchFamily="18" charset="0"/>
              </a:rPr>
              <a:t>No rotor a balancear faz-se uma divisão de 3 posições angulares. A forma mais fácil é dividi-lo em 120°. </a:t>
            </a:r>
          </a:p>
          <a:p>
            <a:pPr algn="l"/>
            <a:endParaRPr lang="pt-BR" sz="1800" dirty="0">
              <a:solidFill>
                <a:schemeClr val="tx1"/>
              </a:solidFill>
              <a:latin typeface="Algerian" pitchFamily="82" charset="0"/>
            </a:endParaRPr>
          </a:p>
          <a:p>
            <a:pPr algn="l"/>
            <a:endParaRPr lang="pt-BR" sz="1800" dirty="0">
              <a:solidFill>
                <a:schemeClr val="tx1"/>
              </a:solidFill>
              <a:latin typeface="Algerian" pitchFamily="82" charset="0"/>
            </a:endParaRPr>
          </a:p>
          <a:p>
            <a:pPr algn="l">
              <a:buFont typeface="Arial" pitchFamily="34" charset="0"/>
              <a:buChar char="•"/>
            </a:pPr>
            <a:endParaRPr lang="pt-BR" sz="1800" dirty="0">
              <a:solidFill>
                <a:schemeClr val="tx1"/>
              </a:solidFill>
              <a:latin typeface="Algerian" pitchFamily="82" charset="0"/>
            </a:endParaRPr>
          </a:p>
          <a:p>
            <a:pPr algn="l"/>
            <a:endParaRPr lang="pt-BR" sz="1800" dirty="0">
              <a:solidFill>
                <a:schemeClr val="tx1"/>
              </a:solidFill>
              <a:latin typeface="Algerian" pitchFamily="82" charset="0"/>
            </a:endParaRPr>
          </a:p>
        </p:txBody>
      </p:sp>
      <p:pic>
        <p:nvPicPr>
          <p:cNvPr id="5" name="Imagem 4" descr="radar.t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83768" y="1628799"/>
            <a:ext cx="4329525" cy="5026513"/>
          </a:xfrm>
          <a:prstGeom prst="rect">
            <a:avLst/>
          </a:prstGeom>
        </p:spPr>
      </p:pic>
      <p:sp>
        <p:nvSpPr>
          <p:cNvPr id="24" name="CaixaDeTexto 23"/>
          <p:cNvSpPr txBox="1"/>
          <p:nvPr/>
        </p:nvSpPr>
        <p:spPr>
          <a:xfrm>
            <a:off x="4788024" y="1916832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2987824" y="5013176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084168" y="4941168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28" name="Seta para baixo 27"/>
          <p:cNvSpPr/>
          <p:nvPr/>
        </p:nvSpPr>
        <p:spPr>
          <a:xfrm>
            <a:off x="4644008" y="1916832"/>
            <a:ext cx="144016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Seta para baixo 28"/>
          <p:cNvSpPr/>
          <p:nvPr/>
        </p:nvSpPr>
        <p:spPr>
          <a:xfrm rot="7200000">
            <a:off x="6388909" y="4931520"/>
            <a:ext cx="144016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Seta para baixo 29"/>
          <p:cNvSpPr/>
          <p:nvPr/>
        </p:nvSpPr>
        <p:spPr>
          <a:xfrm rot="14400000">
            <a:off x="2860518" y="4859513"/>
            <a:ext cx="144016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536" y="260648"/>
            <a:ext cx="8568952" cy="5450160"/>
          </a:xfrm>
        </p:spPr>
        <p:txBody>
          <a:bodyPr>
            <a:normAutofit/>
          </a:bodyPr>
          <a:lstStyle/>
          <a:p>
            <a:pPr algn="l">
              <a:buFont typeface="Wingdings" pitchFamily="2" charset="2"/>
              <a:buChar char="Ø"/>
            </a:pPr>
            <a:r>
              <a:rPr lang="pt-BR" sz="2000" dirty="0">
                <a:solidFill>
                  <a:schemeClr val="tx1"/>
                </a:solidFill>
                <a:latin typeface="Bookman Old Style" pitchFamily="18" charset="0"/>
              </a:rPr>
              <a:t> SEGUNDO PASSO</a:t>
            </a:r>
          </a:p>
          <a:p>
            <a:pPr algn="l"/>
            <a:endParaRPr lang="pt-BR" sz="1800" dirty="0">
              <a:solidFill>
                <a:schemeClr val="tx1"/>
              </a:solidFill>
              <a:latin typeface="Bookman Old Style" pitchFamily="18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pt-BR" sz="1800" dirty="0">
                <a:solidFill>
                  <a:schemeClr val="tx1"/>
                </a:solidFill>
                <a:latin typeface="Bookman Old Style" pitchFamily="18" charset="0"/>
              </a:rPr>
              <a:t> </a:t>
            </a:r>
            <a:r>
              <a:rPr lang="pt-BR" sz="1600" dirty="0">
                <a:solidFill>
                  <a:schemeClr val="tx1"/>
                </a:solidFill>
                <a:latin typeface="Bookman Old Style" pitchFamily="18" charset="0"/>
              </a:rPr>
              <a:t>Serão feitas 4 medições:</a:t>
            </a:r>
          </a:p>
          <a:p>
            <a:pPr lvl="1" algn="l">
              <a:buFont typeface="Wingdings" pitchFamily="2" charset="2"/>
              <a:buChar char="v"/>
            </a:pPr>
            <a:r>
              <a:rPr lang="pt-BR" sz="1200" dirty="0">
                <a:solidFill>
                  <a:schemeClr val="tx1"/>
                </a:solidFill>
                <a:latin typeface="Bookman Old Style" pitchFamily="18" charset="0"/>
              </a:rPr>
              <a:t> </a:t>
            </a:r>
            <a:r>
              <a:rPr lang="pt-BR" sz="1400" dirty="0">
                <a:solidFill>
                  <a:schemeClr val="tx1"/>
                </a:solidFill>
                <a:latin typeface="Bookman Old Style" pitchFamily="18" charset="0"/>
              </a:rPr>
              <a:t>sem nenhuma massa de teste; </a:t>
            </a:r>
          </a:p>
          <a:p>
            <a:pPr lvl="1" algn="l">
              <a:buFont typeface="Wingdings" pitchFamily="2" charset="2"/>
              <a:buChar char="v"/>
            </a:pPr>
            <a:r>
              <a:rPr lang="pt-BR" sz="1400" dirty="0">
                <a:solidFill>
                  <a:schemeClr val="tx1"/>
                </a:solidFill>
                <a:latin typeface="Bookman Old Style" pitchFamily="18" charset="0"/>
              </a:rPr>
              <a:t> com a massa de teste na posição 1. </a:t>
            </a:r>
          </a:p>
          <a:p>
            <a:pPr lvl="1" algn="l">
              <a:buFont typeface="Wingdings" pitchFamily="2" charset="2"/>
              <a:buChar char="v"/>
            </a:pPr>
            <a:r>
              <a:rPr lang="pt-BR" sz="1400" dirty="0">
                <a:solidFill>
                  <a:schemeClr val="tx1"/>
                </a:solidFill>
                <a:latin typeface="Bookman Old Style" pitchFamily="18" charset="0"/>
              </a:rPr>
              <a:t> com a massa de teste na posição 2. </a:t>
            </a:r>
          </a:p>
          <a:p>
            <a:pPr lvl="1" algn="l">
              <a:buFont typeface="Wingdings" pitchFamily="2" charset="2"/>
              <a:buChar char="v"/>
            </a:pPr>
            <a:r>
              <a:rPr lang="pt-BR" sz="1400" dirty="0">
                <a:solidFill>
                  <a:schemeClr val="tx1"/>
                </a:solidFill>
                <a:latin typeface="Bookman Old Style" pitchFamily="18" charset="0"/>
              </a:rPr>
              <a:t> com a massa de teste na posição 3. </a:t>
            </a:r>
          </a:p>
          <a:p>
            <a:pPr algn="l"/>
            <a:endParaRPr lang="pt-BR" sz="1400" dirty="0">
              <a:solidFill>
                <a:schemeClr val="tx1"/>
              </a:solidFill>
              <a:latin typeface="Algerian" pitchFamily="82" charset="0"/>
            </a:endParaRPr>
          </a:p>
          <a:p>
            <a:pPr algn="l"/>
            <a:endParaRPr lang="pt-BR" sz="1800" dirty="0">
              <a:solidFill>
                <a:schemeClr val="tx1"/>
              </a:solidFill>
              <a:latin typeface="Algerian" pitchFamily="82" charset="0"/>
            </a:endParaRPr>
          </a:p>
          <a:p>
            <a:pPr algn="l">
              <a:buFont typeface="Arial" pitchFamily="34" charset="0"/>
              <a:buChar char="•"/>
            </a:pPr>
            <a:endParaRPr lang="pt-BR" sz="1800" dirty="0">
              <a:solidFill>
                <a:schemeClr val="tx1"/>
              </a:solidFill>
              <a:latin typeface="Algerian" pitchFamily="82" charset="0"/>
            </a:endParaRPr>
          </a:p>
          <a:p>
            <a:pPr algn="l"/>
            <a:endParaRPr lang="pt-BR" sz="1800" dirty="0">
              <a:solidFill>
                <a:schemeClr val="tx1"/>
              </a:solidFill>
              <a:latin typeface="Algerian" pitchFamily="82" charset="0"/>
            </a:endParaRPr>
          </a:p>
        </p:txBody>
      </p:sp>
      <p:pic>
        <p:nvPicPr>
          <p:cNvPr id="10" name="Picture 2" descr="http://www.harpexaustores.com.br/imagens/rotor_0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776" y="2685389"/>
            <a:ext cx="4032448" cy="32259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23528" y="260648"/>
            <a:ext cx="8424936" cy="6120680"/>
          </a:xfrm>
        </p:spPr>
        <p:txBody>
          <a:bodyPr/>
          <a:lstStyle/>
          <a:p>
            <a:pPr lvl="0" algn="l">
              <a:buFont typeface="Wingdings" pitchFamily="2" charset="2"/>
              <a:buChar char="Ø"/>
            </a:pPr>
            <a:r>
              <a:rPr lang="pt-BR" sz="2000" dirty="0">
                <a:solidFill>
                  <a:schemeClr val="tx1"/>
                </a:solidFill>
                <a:latin typeface="Bookman Old Style" pitchFamily="18" charset="0"/>
              </a:rPr>
              <a:t> PRIMEIRA MEDIÇÃO</a:t>
            </a:r>
          </a:p>
          <a:p>
            <a:pPr lvl="0" algn="l">
              <a:buFont typeface="Arial" pitchFamily="34" charset="0"/>
              <a:buChar char="•"/>
            </a:pPr>
            <a:endParaRPr lang="pt-BR" sz="1600" dirty="0">
              <a:solidFill>
                <a:schemeClr val="tx1"/>
              </a:solidFill>
              <a:latin typeface="Bookman Old Style" pitchFamily="18" charset="0"/>
            </a:endParaRPr>
          </a:p>
          <a:p>
            <a:pPr lvl="0" algn="l">
              <a:buFont typeface="Arial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Bookman Old Style" pitchFamily="18" charset="0"/>
              </a:rPr>
              <a:t> A primeira medida é a vibração original(</a:t>
            </a:r>
            <a:r>
              <a:rPr lang="pt-BR" sz="1600" dirty="0" err="1">
                <a:solidFill>
                  <a:schemeClr val="tx1"/>
                </a:solidFill>
                <a:latin typeface="Bookman Old Style" pitchFamily="18" charset="0"/>
              </a:rPr>
              <a:t>Vo</a:t>
            </a:r>
            <a:r>
              <a:rPr lang="pt-BR" sz="1600" dirty="0">
                <a:solidFill>
                  <a:schemeClr val="tx1"/>
                </a:solidFill>
                <a:latin typeface="Bookman Old Style" pitchFamily="18" charset="0"/>
              </a:rPr>
              <a:t>), sem nenhuma massa de teste. Sendo Vo = 8, desenha-se um círculo de raio 8 ou em outra escala proporcional, por exemplo 4 ou 2.</a:t>
            </a:r>
          </a:p>
          <a:p>
            <a:pPr lvl="0" algn="l"/>
            <a:endParaRPr lang="pt-BR" sz="1600" dirty="0">
              <a:solidFill>
                <a:schemeClr val="tx1"/>
              </a:solidFill>
              <a:latin typeface="Algerian" pitchFamily="82" charset="0"/>
            </a:endParaRPr>
          </a:p>
          <a:p>
            <a:pPr lvl="0" algn="l"/>
            <a:endParaRPr lang="pt-BR" sz="1600" dirty="0">
              <a:solidFill>
                <a:schemeClr val="tx1"/>
              </a:solidFill>
              <a:latin typeface="Algerian" pitchFamily="82" charset="0"/>
            </a:endParaRPr>
          </a:p>
          <a:p>
            <a:pPr lvl="0" algn="l">
              <a:buFont typeface="Arial" pitchFamily="34" charset="0"/>
              <a:buChar char="•"/>
            </a:pPr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0" y="5877272"/>
            <a:ext cx="19077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Bookman Old Style" pitchFamily="18" charset="0"/>
              </a:rPr>
              <a:t>Vo = raio(r) </a:t>
            </a:r>
          </a:p>
        </p:txBody>
      </p:sp>
      <p:pic>
        <p:nvPicPr>
          <p:cNvPr id="10" name="Imagem 9" descr="imagesCA1B6L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15816" y="2141414"/>
            <a:ext cx="3744415" cy="3744415"/>
          </a:xfrm>
          <a:prstGeom prst="rect">
            <a:avLst/>
          </a:prstGeom>
        </p:spPr>
      </p:pic>
      <p:sp>
        <p:nvSpPr>
          <p:cNvPr id="12" name="CaixaDeTexto 11"/>
          <p:cNvSpPr txBox="1"/>
          <p:nvPr/>
        </p:nvSpPr>
        <p:spPr>
          <a:xfrm>
            <a:off x="5364088" y="3284984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r = 8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572000" y="1772816"/>
            <a:ext cx="50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0°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300192" y="4869160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120°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2483768" y="4797152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240°</a:t>
            </a:r>
          </a:p>
        </p:txBody>
      </p:sp>
      <p:sp>
        <p:nvSpPr>
          <p:cNvPr id="32" name="Seta para baixo 31"/>
          <p:cNvSpPr/>
          <p:nvPr/>
        </p:nvSpPr>
        <p:spPr>
          <a:xfrm>
            <a:off x="4716016" y="2132856"/>
            <a:ext cx="144016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Seta para baixo 32"/>
          <p:cNvSpPr/>
          <p:nvPr/>
        </p:nvSpPr>
        <p:spPr>
          <a:xfrm rot="7200000">
            <a:off x="6156176" y="4797152"/>
            <a:ext cx="144016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Seta para baixo 33"/>
          <p:cNvSpPr/>
          <p:nvPr/>
        </p:nvSpPr>
        <p:spPr>
          <a:xfrm rot="14400000">
            <a:off x="3203848" y="4725144"/>
            <a:ext cx="144016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23528" y="188640"/>
            <a:ext cx="7772400" cy="576063"/>
          </a:xfrm>
        </p:spPr>
        <p:txBody>
          <a:bodyPr>
            <a:normAutofit/>
          </a:bodyPr>
          <a:lstStyle/>
          <a:p>
            <a:pPr algn="l">
              <a:buFont typeface="Wingdings" pitchFamily="2" charset="2"/>
              <a:buChar char="Ø"/>
            </a:pPr>
            <a:r>
              <a:rPr lang="pt-BR" sz="2000" dirty="0">
                <a:latin typeface="Bookman Old Style" pitchFamily="18" charset="0"/>
              </a:rPr>
              <a:t> SEGUNDA MEDIÇÃO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23528" y="908720"/>
            <a:ext cx="8424936" cy="5688632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Algerian" pitchFamily="82" charset="0"/>
              </a:rPr>
              <a:t> </a:t>
            </a:r>
            <a:r>
              <a:rPr lang="pt-BR" sz="1600" dirty="0">
                <a:solidFill>
                  <a:schemeClr val="tx1"/>
                </a:solidFill>
                <a:latin typeface="Bookman Old Style" pitchFamily="18" charset="0"/>
              </a:rPr>
              <a:t>Com uma massa de teste Mt = 4,5g colocada na posição 1 – 0º. A vibração passou para V1 = 11,05.</a:t>
            </a:r>
          </a:p>
        </p:txBody>
      </p:sp>
      <p:pic>
        <p:nvPicPr>
          <p:cNvPr id="20" name="Picture 2" descr="http://www.harpexaustores.com.br/imagens/rotor_0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776" y="2685389"/>
            <a:ext cx="4032448" cy="3225960"/>
          </a:xfrm>
          <a:prstGeom prst="rect">
            <a:avLst/>
          </a:prstGeom>
          <a:noFill/>
        </p:spPr>
      </p:pic>
      <p:sp>
        <p:nvSpPr>
          <p:cNvPr id="21" name="Elipse 20"/>
          <p:cNvSpPr/>
          <p:nvPr/>
        </p:nvSpPr>
        <p:spPr>
          <a:xfrm>
            <a:off x="3995936" y="2780928"/>
            <a:ext cx="216024" cy="144016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/>
          <p:cNvSpPr txBox="1"/>
          <p:nvPr/>
        </p:nvSpPr>
        <p:spPr>
          <a:xfrm>
            <a:off x="0" y="5877272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Bookman Old Style" pitchFamily="18" charset="0"/>
              </a:rPr>
              <a:t>Mt = massa de teste</a:t>
            </a:r>
          </a:p>
        </p:txBody>
      </p:sp>
      <p:sp>
        <p:nvSpPr>
          <p:cNvPr id="24" name="Elipse 23"/>
          <p:cNvSpPr/>
          <p:nvPr/>
        </p:nvSpPr>
        <p:spPr>
          <a:xfrm>
            <a:off x="1907704" y="5949280"/>
            <a:ext cx="216024" cy="144016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/>
          <p:cNvSpPr txBox="1"/>
          <p:nvPr/>
        </p:nvSpPr>
        <p:spPr>
          <a:xfrm>
            <a:off x="3923928" y="2420888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0°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267744" y="4797152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240°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148064" y="4869160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120°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23528" y="0"/>
            <a:ext cx="7700392" cy="908720"/>
          </a:xfrm>
        </p:spPr>
        <p:txBody>
          <a:bodyPr>
            <a:normAutofit/>
          </a:bodyPr>
          <a:lstStyle/>
          <a:p>
            <a:pPr algn="l">
              <a:buFont typeface="Wingdings" pitchFamily="2" charset="2"/>
              <a:buChar char="Ø"/>
            </a:pPr>
            <a:r>
              <a:rPr lang="pt-BR" sz="1800" dirty="0">
                <a:latin typeface="Bookman Old Style" pitchFamily="18" charset="0"/>
              </a:rPr>
              <a:t> </a:t>
            </a:r>
            <a:r>
              <a:rPr lang="pt-BR" sz="2000" dirty="0">
                <a:latin typeface="Bookman Old Style" pitchFamily="18" charset="0"/>
              </a:rPr>
              <a:t>TERCEIRA MEDIÇÃO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23528" y="908720"/>
            <a:ext cx="8496944" cy="5688632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Bookman Old Style" pitchFamily="18" charset="0"/>
              </a:rPr>
              <a:t>  Retira-se a massa de teste Mt da posição 1 e coloca-se na posição 2 – 120°. A vibração passou para V2 = 3,82.</a:t>
            </a:r>
          </a:p>
        </p:txBody>
      </p:sp>
      <p:pic>
        <p:nvPicPr>
          <p:cNvPr id="21" name="Picture 2" descr="http://www.harpexaustores.com.br/imagens/rotor_0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776" y="2685389"/>
            <a:ext cx="4032448" cy="3225960"/>
          </a:xfrm>
          <a:prstGeom prst="rect">
            <a:avLst/>
          </a:prstGeom>
          <a:noFill/>
        </p:spPr>
      </p:pic>
      <p:sp>
        <p:nvSpPr>
          <p:cNvPr id="22" name="CaixaDeTexto 21"/>
          <p:cNvSpPr txBox="1"/>
          <p:nvPr/>
        </p:nvSpPr>
        <p:spPr>
          <a:xfrm>
            <a:off x="3923928" y="2420888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0°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267744" y="4797152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240°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148064" y="4869160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120°</a:t>
            </a:r>
          </a:p>
        </p:txBody>
      </p:sp>
      <p:sp>
        <p:nvSpPr>
          <p:cNvPr id="28" name="Elipse 27"/>
          <p:cNvSpPr/>
          <p:nvPr/>
        </p:nvSpPr>
        <p:spPr>
          <a:xfrm>
            <a:off x="5148064" y="4797152"/>
            <a:ext cx="216024" cy="144016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/>
          <p:cNvSpPr txBox="1"/>
          <p:nvPr/>
        </p:nvSpPr>
        <p:spPr>
          <a:xfrm>
            <a:off x="0" y="5877272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Bookman Old Style" pitchFamily="18" charset="0"/>
              </a:rPr>
              <a:t>Mt = massa de teste</a:t>
            </a:r>
          </a:p>
        </p:txBody>
      </p:sp>
      <p:sp>
        <p:nvSpPr>
          <p:cNvPr id="30" name="Elipse 29"/>
          <p:cNvSpPr/>
          <p:nvPr/>
        </p:nvSpPr>
        <p:spPr>
          <a:xfrm>
            <a:off x="1907704" y="5949280"/>
            <a:ext cx="216024" cy="144016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23528" y="0"/>
            <a:ext cx="8132440" cy="764705"/>
          </a:xfrm>
        </p:spPr>
        <p:txBody>
          <a:bodyPr>
            <a:normAutofit/>
          </a:bodyPr>
          <a:lstStyle/>
          <a:p>
            <a:pPr algn="l">
              <a:buFont typeface="Wingdings" pitchFamily="2" charset="2"/>
              <a:buChar char="Ø"/>
            </a:pPr>
            <a:r>
              <a:rPr lang="pt-BR" sz="2000" dirty="0">
                <a:latin typeface="Bookman Old Style" pitchFamily="18" charset="0"/>
              </a:rPr>
              <a:t> QUARTA MEDIÇÃO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536" y="908720"/>
            <a:ext cx="8496944" cy="5688632"/>
          </a:xfrm>
          <a:ln>
            <a:noFill/>
          </a:ln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  <a:latin typeface="Bookman Old Style" pitchFamily="18" charset="0"/>
              </a:rPr>
              <a:t> Retira-se a massa de teste Mt da posição 2 e coloca-se na posição 3 – 240°. A vibração passou para V3 = 15,09.</a:t>
            </a:r>
          </a:p>
          <a:p>
            <a:pPr algn="l"/>
            <a:endParaRPr lang="pt-BR" sz="1600" dirty="0">
              <a:solidFill>
                <a:schemeClr val="tx1"/>
              </a:solidFill>
              <a:latin typeface="Bookman Old Style" pitchFamily="18" charset="0"/>
            </a:endParaRPr>
          </a:p>
        </p:txBody>
      </p:sp>
      <p:pic>
        <p:nvPicPr>
          <p:cNvPr id="30" name="Picture 2" descr="http://www.harpexaustores.com.br/imagens/rotor_0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776" y="2685389"/>
            <a:ext cx="4032448" cy="3225960"/>
          </a:xfrm>
          <a:prstGeom prst="rect">
            <a:avLst/>
          </a:prstGeom>
          <a:noFill/>
        </p:spPr>
      </p:pic>
      <p:sp>
        <p:nvSpPr>
          <p:cNvPr id="31" name="CaixaDeTexto 30"/>
          <p:cNvSpPr txBox="1"/>
          <p:nvPr/>
        </p:nvSpPr>
        <p:spPr>
          <a:xfrm>
            <a:off x="3923928" y="2420888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0°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2267744" y="4797152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240°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148064" y="4869160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120°</a:t>
            </a:r>
          </a:p>
        </p:txBody>
      </p:sp>
      <p:sp>
        <p:nvSpPr>
          <p:cNvPr id="34" name="Elipse 33"/>
          <p:cNvSpPr/>
          <p:nvPr/>
        </p:nvSpPr>
        <p:spPr>
          <a:xfrm>
            <a:off x="2843808" y="4797152"/>
            <a:ext cx="216024" cy="144016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CaixaDeTexto 34"/>
          <p:cNvSpPr txBox="1"/>
          <p:nvPr/>
        </p:nvSpPr>
        <p:spPr>
          <a:xfrm>
            <a:off x="0" y="5877272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Bookman Old Style" pitchFamily="18" charset="0"/>
              </a:rPr>
              <a:t>Mt = massa de teste</a:t>
            </a:r>
          </a:p>
        </p:txBody>
      </p:sp>
      <p:sp>
        <p:nvSpPr>
          <p:cNvPr id="36" name="Elipse 35"/>
          <p:cNvSpPr/>
          <p:nvPr/>
        </p:nvSpPr>
        <p:spPr>
          <a:xfrm>
            <a:off x="1907704" y="5949280"/>
            <a:ext cx="216024" cy="144016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562074"/>
          </a:xfrm>
        </p:spPr>
        <p:txBody>
          <a:bodyPr>
            <a:normAutofit/>
          </a:bodyPr>
          <a:lstStyle/>
          <a:p>
            <a:pPr algn="l">
              <a:buFont typeface="Wingdings" pitchFamily="2" charset="2"/>
              <a:buChar char="Ø"/>
            </a:pPr>
            <a:r>
              <a:rPr lang="pt-BR" sz="1800" dirty="0">
                <a:latin typeface="Bookman Old Style" pitchFamily="18" charset="0"/>
              </a:rPr>
              <a:t> </a:t>
            </a:r>
            <a:r>
              <a:rPr lang="pt-BR" sz="2000" dirty="0">
                <a:latin typeface="Bookman Old Style" pitchFamily="18" charset="0"/>
              </a:rPr>
              <a:t>TERCEIRO PASSO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23528" y="980728"/>
            <a:ext cx="84249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dirty="0"/>
              <a:t> </a:t>
            </a:r>
            <a:r>
              <a:rPr lang="pt-BR" sz="1600" dirty="0">
                <a:latin typeface="Bookman Old Style" pitchFamily="18" charset="0"/>
              </a:rPr>
              <a:t>Com essas medições, volta-se ao gráfico e traça-se 3 arcos de circulo.</a:t>
            </a:r>
          </a:p>
          <a:p>
            <a:pPr lvl="1">
              <a:buFont typeface="Wingdings" pitchFamily="2" charset="2"/>
              <a:buChar char="v"/>
            </a:pPr>
            <a:r>
              <a:rPr lang="pt-BR" sz="1600" dirty="0">
                <a:latin typeface="Bookman Old Style" pitchFamily="18" charset="0"/>
              </a:rPr>
              <a:t> Com centro em 1, traça-se um arco de raio V1 = 11,05.</a:t>
            </a:r>
          </a:p>
        </p:txBody>
      </p:sp>
      <p:pic>
        <p:nvPicPr>
          <p:cNvPr id="28" name="Imagem 27" descr="Sem título222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15816" y="2377974"/>
            <a:ext cx="3744000" cy="3744000"/>
          </a:xfrm>
          <a:prstGeom prst="rect">
            <a:avLst/>
          </a:prstGeom>
        </p:spPr>
      </p:pic>
      <p:sp>
        <p:nvSpPr>
          <p:cNvPr id="30" name="CaixaDeTexto 29"/>
          <p:cNvSpPr txBox="1"/>
          <p:nvPr/>
        </p:nvSpPr>
        <p:spPr>
          <a:xfrm>
            <a:off x="4572000" y="1772816"/>
            <a:ext cx="50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0°</a:t>
            </a:r>
          </a:p>
        </p:txBody>
      </p:sp>
      <p:sp>
        <p:nvSpPr>
          <p:cNvPr id="31" name="Seta para baixo 30"/>
          <p:cNvSpPr/>
          <p:nvPr/>
        </p:nvSpPr>
        <p:spPr>
          <a:xfrm>
            <a:off x="4716016" y="2132856"/>
            <a:ext cx="144016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/>
          <p:cNvSpPr txBox="1"/>
          <p:nvPr/>
        </p:nvSpPr>
        <p:spPr>
          <a:xfrm>
            <a:off x="6300192" y="4869160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120°</a:t>
            </a:r>
          </a:p>
        </p:txBody>
      </p:sp>
      <p:sp>
        <p:nvSpPr>
          <p:cNvPr id="33" name="Seta para baixo 32"/>
          <p:cNvSpPr/>
          <p:nvPr/>
        </p:nvSpPr>
        <p:spPr>
          <a:xfrm rot="7200000">
            <a:off x="6156176" y="4797152"/>
            <a:ext cx="144016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/>
          <p:cNvSpPr txBox="1"/>
          <p:nvPr/>
        </p:nvSpPr>
        <p:spPr>
          <a:xfrm>
            <a:off x="2483768" y="4797152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240°</a:t>
            </a:r>
          </a:p>
        </p:txBody>
      </p:sp>
      <p:sp>
        <p:nvSpPr>
          <p:cNvPr id="35" name="Seta para baixo 34"/>
          <p:cNvSpPr/>
          <p:nvPr/>
        </p:nvSpPr>
        <p:spPr>
          <a:xfrm rot="14400000">
            <a:off x="3203848" y="4725144"/>
            <a:ext cx="144016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/>
          <p:cNvSpPr txBox="1"/>
          <p:nvPr/>
        </p:nvSpPr>
        <p:spPr>
          <a:xfrm>
            <a:off x="4860032" y="2276872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5796136" y="4869160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3347864" y="4797152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39" name="Arco 38"/>
          <p:cNvSpPr/>
          <p:nvPr/>
        </p:nvSpPr>
        <p:spPr>
          <a:xfrm rot="8652159">
            <a:off x="2122171" y="-1176351"/>
            <a:ext cx="5961886" cy="5466284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1" name="Conector reto 40"/>
          <p:cNvCxnSpPr>
            <a:stCxn id="31" idx="0"/>
          </p:cNvCxnSpPr>
          <p:nvPr/>
        </p:nvCxnSpPr>
        <p:spPr>
          <a:xfrm flipH="1">
            <a:off x="3635896" y="2132856"/>
            <a:ext cx="1152128" cy="19442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ixaDeTexto 43"/>
          <p:cNvSpPr txBox="1"/>
          <p:nvPr/>
        </p:nvSpPr>
        <p:spPr>
          <a:xfrm rot="18089355">
            <a:off x="3549083" y="2796941"/>
            <a:ext cx="858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r = V1</a:t>
            </a:r>
          </a:p>
        </p:txBody>
      </p:sp>
    </p:spTree>
    <p:extLst>
      <p:ext uri="{BB962C8B-B14F-4D97-AF65-F5344CB8AC3E}">
        <p14:creationId xmlns:p14="http://schemas.microsoft.com/office/powerpoint/2010/main" val="481521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9552" y="260649"/>
            <a:ext cx="7772400" cy="576063"/>
          </a:xfrm>
        </p:spPr>
        <p:txBody>
          <a:bodyPr>
            <a:normAutofit/>
          </a:bodyPr>
          <a:lstStyle/>
          <a:p>
            <a:pPr algn="l">
              <a:buFont typeface="Wingdings" pitchFamily="2" charset="2"/>
              <a:buChar char="Ø"/>
            </a:pPr>
            <a:r>
              <a:rPr lang="pt-BR" sz="1800" dirty="0">
                <a:latin typeface="Bookman Old Style" pitchFamily="18" charset="0"/>
              </a:rPr>
              <a:t> </a:t>
            </a:r>
            <a:r>
              <a:rPr lang="pt-BR" sz="2000" dirty="0">
                <a:latin typeface="Bookman Old Style" pitchFamily="18" charset="0"/>
              </a:rPr>
              <a:t>QUARTO PASSO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23528" y="980728"/>
            <a:ext cx="8424936" cy="4896544"/>
          </a:xfrm>
        </p:spPr>
        <p:txBody>
          <a:bodyPr>
            <a:normAutofit/>
          </a:bodyPr>
          <a:lstStyle/>
          <a:p>
            <a:pPr lvl="1" algn="l">
              <a:buFont typeface="Wingdings" pitchFamily="2" charset="2"/>
              <a:buChar char="v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itchFamily="18" charset="0"/>
              </a:rPr>
              <a:t> </a:t>
            </a:r>
            <a:r>
              <a:rPr lang="pt-BR" sz="1600" dirty="0">
                <a:solidFill>
                  <a:prstClr val="black"/>
                </a:solidFill>
                <a:latin typeface="Bookman Old Style" pitchFamily="18" charset="0"/>
              </a:rPr>
              <a:t>Com centro em 2, traça-se um arco de raio V2 = 3,82 .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itchFamily="18" charset="0"/>
              </a:rPr>
              <a:t> </a:t>
            </a:r>
          </a:p>
        </p:txBody>
      </p:sp>
      <p:pic>
        <p:nvPicPr>
          <p:cNvPr id="15" name="Imagem 14" descr="Sem título222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15816" y="2142000"/>
            <a:ext cx="3744000" cy="3744000"/>
          </a:xfrm>
          <a:prstGeom prst="rect">
            <a:avLst/>
          </a:prstGeom>
        </p:spPr>
      </p:pic>
      <p:sp>
        <p:nvSpPr>
          <p:cNvPr id="16" name="CaixaDeTexto 15"/>
          <p:cNvSpPr txBox="1"/>
          <p:nvPr/>
        </p:nvSpPr>
        <p:spPr>
          <a:xfrm>
            <a:off x="4572000" y="1772816"/>
            <a:ext cx="50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0°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300192" y="4725144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120°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483768" y="4797152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240°</a:t>
            </a:r>
          </a:p>
        </p:txBody>
      </p:sp>
      <p:sp>
        <p:nvSpPr>
          <p:cNvPr id="19" name="Seta para baixo 18"/>
          <p:cNvSpPr/>
          <p:nvPr/>
        </p:nvSpPr>
        <p:spPr>
          <a:xfrm rot="14400000">
            <a:off x="3203848" y="4725144"/>
            <a:ext cx="144016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Seta para baixo 19"/>
          <p:cNvSpPr/>
          <p:nvPr/>
        </p:nvSpPr>
        <p:spPr>
          <a:xfrm rot="7200000">
            <a:off x="6156176" y="4797152"/>
            <a:ext cx="144016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Seta para baixo 20"/>
          <p:cNvSpPr/>
          <p:nvPr/>
        </p:nvSpPr>
        <p:spPr>
          <a:xfrm>
            <a:off x="4716016" y="2132856"/>
            <a:ext cx="144016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/>
          <p:cNvSpPr txBox="1"/>
          <p:nvPr/>
        </p:nvSpPr>
        <p:spPr>
          <a:xfrm>
            <a:off x="4860032" y="2276872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3347864" y="4797152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156176" y="5085184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26" name="Arco 25"/>
          <p:cNvSpPr/>
          <p:nvPr/>
        </p:nvSpPr>
        <p:spPr>
          <a:xfrm rot="8652159">
            <a:off x="2122171" y="-1176351"/>
            <a:ext cx="5961886" cy="5466284"/>
          </a:xfrm>
          <a:prstGeom prst="arc">
            <a:avLst>
              <a:gd name="adj1" fmla="val 15089771"/>
              <a:gd name="adj2" fmla="val 64394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Arco 26"/>
          <p:cNvSpPr/>
          <p:nvPr/>
        </p:nvSpPr>
        <p:spPr>
          <a:xfrm rot="15550052">
            <a:off x="5282490" y="3700016"/>
            <a:ext cx="2251428" cy="2410295"/>
          </a:xfrm>
          <a:prstGeom prst="arc">
            <a:avLst>
              <a:gd name="adj1" fmla="val 13602366"/>
              <a:gd name="adj2" fmla="val 214729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9" name="Conector reto 28"/>
          <p:cNvCxnSpPr>
            <a:stCxn id="20" idx="0"/>
          </p:cNvCxnSpPr>
          <p:nvPr/>
        </p:nvCxnSpPr>
        <p:spPr>
          <a:xfrm flipH="1">
            <a:off x="5220072" y="5013176"/>
            <a:ext cx="1132834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5220072" y="4653136"/>
            <a:ext cx="858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r = V2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9552" y="260649"/>
            <a:ext cx="7772400" cy="576063"/>
          </a:xfrm>
        </p:spPr>
        <p:txBody>
          <a:bodyPr>
            <a:normAutofit/>
          </a:bodyPr>
          <a:lstStyle/>
          <a:p>
            <a:pPr algn="l">
              <a:buFont typeface="Wingdings" pitchFamily="2" charset="2"/>
              <a:buChar char="Ø"/>
            </a:pPr>
            <a:r>
              <a:rPr lang="pt-BR" sz="1800" dirty="0">
                <a:latin typeface="Bookman Old Style" pitchFamily="18" charset="0"/>
              </a:rPr>
              <a:t> </a:t>
            </a:r>
            <a:r>
              <a:rPr lang="pt-BR" sz="2000" dirty="0">
                <a:latin typeface="Bookman Old Style" pitchFamily="18" charset="0"/>
              </a:rPr>
              <a:t>QUARTO PASSO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23528" y="980728"/>
            <a:ext cx="8424936" cy="4896544"/>
          </a:xfrm>
        </p:spPr>
        <p:txBody>
          <a:bodyPr>
            <a:normAutofit/>
          </a:bodyPr>
          <a:lstStyle/>
          <a:p>
            <a:pPr lvl="1" algn="l">
              <a:buFont typeface="Wingdings" pitchFamily="2" charset="2"/>
              <a:buChar char="v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itchFamily="18" charset="0"/>
              </a:rPr>
              <a:t> </a:t>
            </a:r>
            <a:r>
              <a:rPr lang="pt-BR" sz="1600" dirty="0">
                <a:solidFill>
                  <a:prstClr val="black"/>
                </a:solidFill>
                <a:latin typeface="Bookman Old Style" pitchFamily="18" charset="0"/>
              </a:rPr>
              <a:t>Com centro em 3, traça-se um arco de raio V3 = 15,09 .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itchFamily="18" charset="0"/>
              </a:rPr>
              <a:t> </a:t>
            </a:r>
          </a:p>
        </p:txBody>
      </p:sp>
      <p:pic>
        <p:nvPicPr>
          <p:cNvPr id="15" name="Imagem 14" descr="Sem título222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15816" y="2142000"/>
            <a:ext cx="3744000" cy="3744000"/>
          </a:xfrm>
          <a:prstGeom prst="rect">
            <a:avLst/>
          </a:prstGeom>
        </p:spPr>
      </p:pic>
      <p:sp>
        <p:nvSpPr>
          <p:cNvPr id="16" name="CaixaDeTexto 15"/>
          <p:cNvSpPr txBox="1"/>
          <p:nvPr/>
        </p:nvSpPr>
        <p:spPr>
          <a:xfrm>
            <a:off x="4572000" y="1772816"/>
            <a:ext cx="50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0°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372200" y="4725144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120°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483768" y="4797152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240°</a:t>
            </a:r>
          </a:p>
        </p:txBody>
      </p:sp>
      <p:sp>
        <p:nvSpPr>
          <p:cNvPr id="19" name="Seta para baixo 18"/>
          <p:cNvSpPr/>
          <p:nvPr/>
        </p:nvSpPr>
        <p:spPr>
          <a:xfrm rot="14400000">
            <a:off x="3203848" y="4725144"/>
            <a:ext cx="144016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Seta para baixo 19"/>
          <p:cNvSpPr/>
          <p:nvPr/>
        </p:nvSpPr>
        <p:spPr>
          <a:xfrm rot="7200000">
            <a:off x="6156176" y="4797152"/>
            <a:ext cx="144016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Seta para baixo 20"/>
          <p:cNvSpPr/>
          <p:nvPr/>
        </p:nvSpPr>
        <p:spPr>
          <a:xfrm>
            <a:off x="4716016" y="2132856"/>
            <a:ext cx="144016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/>
          <p:cNvSpPr txBox="1"/>
          <p:nvPr/>
        </p:nvSpPr>
        <p:spPr>
          <a:xfrm>
            <a:off x="4860032" y="2276872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3347864" y="4797152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156176" y="5085184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26" name="Arco 25"/>
          <p:cNvSpPr/>
          <p:nvPr/>
        </p:nvSpPr>
        <p:spPr>
          <a:xfrm rot="8652159">
            <a:off x="2122171" y="-1176351"/>
            <a:ext cx="5961886" cy="5466284"/>
          </a:xfrm>
          <a:prstGeom prst="arc">
            <a:avLst>
              <a:gd name="adj1" fmla="val 15089771"/>
              <a:gd name="adj2" fmla="val 64394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Arco 26"/>
          <p:cNvSpPr/>
          <p:nvPr/>
        </p:nvSpPr>
        <p:spPr>
          <a:xfrm rot="15550052">
            <a:off x="5282490" y="3700016"/>
            <a:ext cx="2251428" cy="2410295"/>
          </a:xfrm>
          <a:prstGeom prst="arc">
            <a:avLst>
              <a:gd name="adj1" fmla="val 13602366"/>
              <a:gd name="adj2" fmla="val 214729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Arco 24"/>
          <p:cNvSpPr/>
          <p:nvPr/>
        </p:nvSpPr>
        <p:spPr>
          <a:xfrm rot="20885400">
            <a:off x="5020764" y="2399260"/>
            <a:ext cx="1584176" cy="3816424"/>
          </a:xfrm>
          <a:prstGeom prst="arc">
            <a:avLst>
              <a:gd name="adj1" fmla="val 17064722"/>
              <a:gd name="adj2" fmla="val 424908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1" name="Conector reto 30"/>
          <p:cNvCxnSpPr/>
          <p:nvPr/>
        </p:nvCxnSpPr>
        <p:spPr>
          <a:xfrm flipH="1">
            <a:off x="3131840" y="3284984"/>
            <a:ext cx="3168352" cy="1656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/>
          <p:cNvSpPr txBox="1"/>
          <p:nvPr/>
        </p:nvSpPr>
        <p:spPr>
          <a:xfrm rot="19947282">
            <a:off x="4255829" y="3604781"/>
            <a:ext cx="858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r = V3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9552" y="260649"/>
            <a:ext cx="7772400" cy="576063"/>
          </a:xfrm>
        </p:spPr>
        <p:txBody>
          <a:bodyPr>
            <a:normAutofit/>
          </a:bodyPr>
          <a:lstStyle/>
          <a:p>
            <a:pPr algn="l">
              <a:buFont typeface="Wingdings" pitchFamily="2" charset="2"/>
              <a:buChar char="Ø"/>
            </a:pPr>
            <a:r>
              <a:rPr lang="pt-BR" sz="1800" dirty="0">
                <a:latin typeface="Bookman Old Style" pitchFamily="18" charset="0"/>
              </a:rPr>
              <a:t> </a:t>
            </a:r>
            <a:r>
              <a:rPr lang="pt-BR" sz="2000" dirty="0">
                <a:latin typeface="Bookman Old Style" pitchFamily="18" charset="0"/>
              </a:rPr>
              <a:t>CONCLUSÃO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23528" y="980728"/>
            <a:ext cx="8424936" cy="4896544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itchFamily="18" charset="0"/>
              </a:rPr>
              <a:t> Do centro do circulo O até a intersecção P, neste sentido, tem-se a direção de colocação da massa de correção. Sendo o trecho OP menor que o raio r a Mc será maior que a Mt. Se OP fosse maior que o raio a Mc seria menor que a Mt. </a:t>
            </a:r>
          </a:p>
        </p:txBody>
      </p:sp>
      <p:pic>
        <p:nvPicPr>
          <p:cNvPr id="15" name="Imagem 14" descr="Sem título222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15816" y="2142000"/>
            <a:ext cx="3744000" cy="3744000"/>
          </a:xfrm>
          <a:prstGeom prst="rect">
            <a:avLst/>
          </a:prstGeom>
        </p:spPr>
      </p:pic>
      <p:sp>
        <p:nvSpPr>
          <p:cNvPr id="16" name="CaixaDeTexto 15"/>
          <p:cNvSpPr txBox="1"/>
          <p:nvPr/>
        </p:nvSpPr>
        <p:spPr>
          <a:xfrm>
            <a:off x="4572000" y="1772816"/>
            <a:ext cx="50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0°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372200" y="4725144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120°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483768" y="4797152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240°</a:t>
            </a:r>
          </a:p>
        </p:txBody>
      </p:sp>
      <p:sp>
        <p:nvSpPr>
          <p:cNvPr id="19" name="Seta para baixo 18"/>
          <p:cNvSpPr/>
          <p:nvPr/>
        </p:nvSpPr>
        <p:spPr>
          <a:xfrm rot="14400000">
            <a:off x="3203848" y="4725144"/>
            <a:ext cx="144016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Seta para baixo 19"/>
          <p:cNvSpPr/>
          <p:nvPr/>
        </p:nvSpPr>
        <p:spPr>
          <a:xfrm rot="7200000">
            <a:off x="6156176" y="4797152"/>
            <a:ext cx="144016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Seta para baixo 20"/>
          <p:cNvSpPr/>
          <p:nvPr/>
        </p:nvSpPr>
        <p:spPr>
          <a:xfrm>
            <a:off x="4716016" y="2132856"/>
            <a:ext cx="144016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/>
          <p:cNvSpPr txBox="1"/>
          <p:nvPr/>
        </p:nvSpPr>
        <p:spPr>
          <a:xfrm>
            <a:off x="4860032" y="2276872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3347864" y="4797152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6156176" y="5085184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26" name="Arco 25"/>
          <p:cNvSpPr/>
          <p:nvPr/>
        </p:nvSpPr>
        <p:spPr>
          <a:xfrm rot="8652159">
            <a:off x="2122171" y="-1176351"/>
            <a:ext cx="5961886" cy="5466284"/>
          </a:xfrm>
          <a:prstGeom prst="arc">
            <a:avLst>
              <a:gd name="adj1" fmla="val 15089771"/>
              <a:gd name="adj2" fmla="val 64394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Arco 26"/>
          <p:cNvSpPr/>
          <p:nvPr/>
        </p:nvSpPr>
        <p:spPr>
          <a:xfrm rot="15550052">
            <a:off x="5310444" y="3820919"/>
            <a:ext cx="2123511" cy="2312503"/>
          </a:xfrm>
          <a:prstGeom prst="arc">
            <a:avLst>
              <a:gd name="adj1" fmla="val 13602366"/>
              <a:gd name="adj2" fmla="val 218354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Arco 24"/>
          <p:cNvSpPr/>
          <p:nvPr/>
        </p:nvSpPr>
        <p:spPr>
          <a:xfrm rot="20885400">
            <a:off x="5020764" y="2399260"/>
            <a:ext cx="1584176" cy="3816424"/>
          </a:xfrm>
          <a:prstGeom prst="arc">
            <a:avLst>
              <a:gd name="adj1" fmla="val 17064722"/>
              <a:gd name="adj2" fmla="val 424908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/>
          <p:cNvSpPr txBox="1"/>
          <p:nvPr/>
        </p:nvSpPr>
        <p:spPr>
          <a:xfrm>
            <a:off x="4355976" y="3717032"/>
            <a:ext cx="48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</a:rPr>
              <a:t>O</a:t>
            </a:r>
            <a:endParaRPr lang="pt-BR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30" name="Conector reto 29"/>
          <p:cNvCxnSpPr/>
          <p:nvPr/>
        </p:nvCxnSpPr>
        <p:spPr>
          <a:xfrm>
            <a:off x="4644008" y="3933056"/>
            <a:ext cx="18722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395536" y="3068960"/>
            <a:ext cx="18002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Mc = Mt x </a:t>
            </a:r>
            <a:r>
              <a:rPr lang="pt-BR" sz="1600" b="1" u="sng" dirty="0" err="1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Vo</a:t>
            </a:r>
            <a:r>
              <a:rPr lang="pt-BR" sz="1600" b="1" u="sng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 </a:t>
            </a:r>
          </a:p>
          <a:p>
            <a:r>
              <a:rPr lang="pt-BR" sz="16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                OP </a:t>
            </a:r>
          </a:p>
          <a:p>
            <a:endParaRPr lang="pt-BR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0" y="5877272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Bookman Old Style" pitchFamily="18" charset="0"/>
              </a:rPr>
              <a:t>Mt</a:t>
            </a:r>
            <a:r>
              <a:rPr lang="pt-BR" sz="1400" dirty="0">
                <a:latin typeface="Bookman Old Style" pitchFamily="18" charset="0"/>
              </a:rPr>
              <a:t> = massa de teste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0" y="6093296"/>
            <a:ext cx="2411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Bookman Old Style" pitchFamily="18" charset="0"/>
              </a:rPr>
              <a:t>Mc</a:t>
            </a:r>
            <a:r>
              <a:rPr lang="pt-BR" sz="1400" dirty="0">
                <a:latin typeface="Bookman Old Style" pitchFamily="18" charset="0"/>
              </a:rPr>
              <a:t> = massa de correção 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0" y="6309320"/>
            <a:ext cx="2555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Bookman Old Style" pitchFamily="18" charset="0"/>
              </a:rPr>
              <a:t>OP</a:t>
            </a:r>
            <a:r>
              <a:rPr lang="pt-BR" sz="1400" dirty="0">
                <a:latin typeface="Bookman Old Style" pitchFamily="18" charset="0"/>
              </a:rPr>
              <a:t> = origem - intersecção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6300192" y="3645024"/>
            <a:ext cx="48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</a:rPr>
              <a:t>P</a:t>
            </a:r>
            <a:endParaRPr lang="pt-BR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0" y="6550223"/>
            <a:ext cx="2555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err="1">
                <a:latin typeface="Bookman Old Style" pitchFamily="18" charset="0"/>
              </a:rPr>
              <a:t>Vo</a:t>
            </a:r>
            <a:r>
              <a:rPr lang="pt-BR" sz="1400" dirty="0">
                <a:latin typeface="Bookman Old Style" pitchFamily="18" charset="0"/>
              </a:rPr>
              <a:t> = vibração original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454</Words>
  <Application>Microsoft Office PowerPoint</Application>
  <PresentationFormat>Apresentação na tela (4:3)</PresentationFormat>
  <Paragraphs>89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Algerian</vt:lpstr>
      <vt:lpstr>Arial</vt:lpstr>
      <vt:lpstr>Bookman Old Style</vt:lpstr>
      <vt:lpstr>Calibri</vt:lpstr>
      <vt:lpstr>Wingdings</vt:lpstr>
      <vt:lpstr>Tema do Office</vt:lpstr>
      <vt:lpstr>BALANCEAMENTO DE TRÊS PONTOS</vt:lpstr>
      <vt:lpstr>Apresentação do PowerPoint</vt:lpstr>
      <vt:lpstr>Apresentação do PowerPoint</vt:lpstr>
      <vt:lpstr>Apresentação do PowerPoint</vt:lpstr>
      <vt:lpstr> SEGUNDA MEDIÇÃO</vt:lpstr>
      <vt:lpstr> TERCEIRA MEDIÇÃO</vt:lpstr>
      <vt:lpstr> QUARTA MEDIÇÃO</vt:lpstr>
      <vt:lpstr> TERCEIRO PASSO</vt:lpstr>
      <vt:lpstr> QUARTO PASSO</vt:lpstr>
      <vt:lpstr> QUARTO PASSO</vt:lpstr>
      <vt:lpstr> CONCLUSÃO</vt:lpstr>
    </vt:vector>
  </TitlesOfParts>
  <Company>Pessoal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BALANCEAMENTO DE UM PLANO</dc:title>
  <dc:creator>Marcia</dc:creator>
  <cp:lastModifiedBy>Vibrate Tech Manutenção preditiva</cp:lastModifiedBy>
  <cp:revision>71</cp:revision>
  <cp:lastPrinted>2021-02-10T15:44:44Z</cp:lastPrinted>
  <dcterms:created xsi:type="dcterms:W3CDTF">2011-11-06T19:13:05Z</dcterms:created>
  <dcterms:modified xsi:type="dcterms:W3CDTF">2023-10-31T16:02:01Z</dcterms:modified>
</cp:coreProperties>
</file>